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8"/>
  </p:notesMasterIdLst>
  <p:handoutMasterIdLst>
    <p:handoutMasterId r:id="rId29"/>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41" r:id="rId24"/>
    <p:sldId id="342" r:id="rId25"/>
    <p:sldId id="343" r:id="rId26"/>
    <p:sldId id="30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0" d="100"/>
          <a:sy n="70" d="100"/>
        </p:scale>
        <p:origin x="456" y="4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86442" y="3500573"/>
            <a:ext cx="8263782" cy="861497"/>
          </a:xfrm>
        </p:spPr>
        <p:txBody>
          <a:bodyPr vert="horz" lIns="91440" tIns="45720" rIns="91440" bIns="45720" rtlCol="0" anchor="t">
            <a:normAutofit lnSpcReduction="10000"/>
          </a:bodyPr>
          <a:lstStyle/>
          <a:p>
            <a:r>
              <a:rPr lang="en-US" sz="2400" dirty="0">
                <a:solidFill>
                  <a:schemeClr val="tx1"/>
                </a:solidFill>
              </a:rPr>
              <a:t>Om Rajendrakumar Koli</a:t>
            </a:r>
            <a:endParaRPr lang="en-IN" sz="2400" dirty="0">
              <a:solidFill>
                <a:schemeClr val="tx1"/>
              </a:solidFill>
            </a:endParaRPr>
          </a:p>
          <a:p>
            <a:r>
              <a:rPr lang="en-IN" sz="2100" dirty="0">
                <a:solidFill>
                  <a:schemeClr val="tx1"/>
                </a:solidFill>
                <a:latin typeface="+mn-lt"/>
              </a:rPr>
              <a:t>Adarsh Institute of Technology and Research Centre, Vita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64507" y="2799082"/>
            <a:ext cx="11053388" cy="743448"/>
          </a:xfrm>
        </p:spPr>
        <p:txBody>
          <a:bodyPr>
            <a:noAutofit/>
          </a:bodyPr>
          <a:lstStyle/>
          <a:p>
            <a:r>
              <a:rPr lang="en-US" sz="3200" b="1" dirty="0" err="1"/>
              <a:t>Seasonal_Agriculture_Performance_Data_Analytics</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86442" y="4320112"/>
            <a:ext cx="6577250" cy="369332"/>
          </a:xfrm>
          <a:prstGeom prst="rect">
            <a:avLst/>
          </a:prstGeom>
          <a:noFill/>
        </p:spPr>
        <p:txBody>
          <a:bodyPr wrap="square" rtlCol="0">
            <a:spAutoFit/>
          </a:bodyPr>
          <a:lstStyle/>
          <a:p>
            <a:r>
              <a:rPr lang="en-US" b="1" dirty="0"/>
              <a:t>AICTE STU ID : </a:t>
            </a:r>
            <a:r>
              <a:rPr lang="en-IN" dirty="0"/>
              <a:t>STU66d3ee81eb4b21725165185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91356" y="1340528"/>
            <a:ext cx="8441164" cy="3607987"/>
          </a:xfrm>
        </p:spPr>
        <p:txBody>
          <a:bodyPr vert="horz" lIns="91440" tIns="45720" rIns="91440" bIns="45720" rtlCol="0" anchor="t">
            <a:noAutofit/>
          </a:bodyPr>
          <a:lstStyle/>
          <a:p>
            <a:pPr algn="just">
              <a:lnSpc>
                <a:spcPct val="150000"/>
              </a:lnSpc>
            </a:pP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056388" y="306799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51447"/>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42DAFA49-EA57-2D53-5517-4921E3087158}"/>
              </a:ext>
            </a:extLst>
          </p:cNvPr>
          <p:cNvSpPr txBox="1"/>
          <p:nvPr/>
        </p:nvSpPr>
        <p:spPr>
          <a:xfrm>
            <a:off x="467359" y="871921"/>
            <a:ext cx="9955786" cy="5114157"/>
          </a:xfrm>
          <a:prstGeom prst="rect">
            <a:avLst/>
          </a:prstGeom>
          <a:noFill/>
        </p:spPr>
        <p:txBody>
          <a:bodyPr wrap="square" rtlCol="0">
            <a:spAutoFit/>
          </a:bodyPr>
          <a:lstStyle/>
          <a:p>
            <a:pPr algn="just">
              <a:lnSpc>
                <a:spcPct val="150000"/>
              </a:lnSpc>
            </a:pPr>
            <a:r>
              <a:rPr lang="en-IN" sz="2000" dirty="0"/>
              <a:t>This project </a:t>
            </a:r>
            <a:r>
              <a:rPr lang="en-IN" sz="2000" dirty="0" err="1"/>
              <a:t>analyzes</a:t>
            </a:r>
            <a:r>
              <a:rPr lang="en-IN" sz="2000" dirty="0"/>
              <a:t> 4,000 farm records across three seasons — Kharif, Rabi, and Zaid — covering multiple states, crops, environmental conditions, farming inputs, and economic outcomes (yield, cost, revenue, profit).</a:t>
            </a:r>
          </a:p>
          <a:p>
            <a:pPr algn="just">
              <a:lnSpc>
                <a:spcPct val="150000"/>
              </a:lnSpc>
            </a:pPr>
            <a:endParaRPr lang="en-IN" sz="2000" dirty="0"/>
          </a:p>
          <a:p>
            <a:pPr algn="just">
              <a:lnSpc>
                <a:spcPct val="150000"/>
              </a:lnSpc>
            </a:pPr>
            <a:r>
              <a:rPr lang="en-IN" sz="2000" dirty="0"/>
              <a:t>Using Python (Pandas, NumPy, Matplotlib, Seaborn) in Jupyter Notebook, the project performs data cleaning, outlier handling, and univariate/bivariate/multivariate analysis, along with four original research questions on irrigation, disease risk, water efficiency, and input impact on yield.</a:t>
            </a:r>
          </a:p>
          <a:p>
            <a:pPr algn="just">
              <a:lnSpc>
                <a:spcPct val="150000"/>
              </a:lnSpc>
            </a:pPr>
            <a:endParaRPr lang="en-IN" sz="2000" dirty="0"/>
          </a:p>
          <a:p>
            <a:pPr algn="just">
              <a:lnSpc>
                <a:spcPct val="150000"/>
              </a:lnSpc>
            </a:pPr>
            <a:r>
              <a:rPr lang="en-IN" sz="2000" dirty="0"/>
              <a:t>The goal is to uncover how agricultural performance varies by season and turn these patterns into clear, evidence-based insights for better seasonal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933019"/>
            <a:ext cx="9813296" cy="3990023"/>
          </a:xfrm>
        </p:spPr>
        <p:txBody>
          <a:bodyPr>
            <a:noAutofit/>
          </a:bodyPr>
          <a:lstStyle/>
          <a:p>
            <a:pPr lvl="0" algn="just"/>
            <a:r>
              <a:rPr lang="en-IN" dirty="0"/>
              <a:t>Farmers and agricultural producers — to plan crop choice, irrigation method, and input usage by season</a:t>
            </a:r>
          </a:p>
          <a:p>
            <a:pPr lvl="0" algn="just"/>
            <a:r>
              <a:rPr lang="en-IN" dirty="0"/>
              <a:t>Agricultural policymakers and government bodies — to design season-specific support schemes and water-management policy</a:t>
            </a:r>
          </a:p>
          <a:p>
            <a:pPr lvl="0" algn="just"/>
            <a:r>
              <a:rPr lang="en-IN" dirty="0"/>
              <a:t>Agri-business and supply chain companies — to forecast production and manage procurement across seasons</a:t>
            </a:r>
          </a:p>
          <a:p>
            <a:pPr lvl="0" algn="just"/>
            <a:r>
              <a:rPr lang="en-IN" dirty="0"/>
              <a:t>Agricultural researchers and extension officers — to identify patterns worth deeper investigation</a:t>
            </a:r>
          </a:p>
          <a:p>
            <a:pPr lvl="0" algn="just"/>
            <a:r>
              <a:rPr lang="en-IN" dirty="0"/>
              <a:t>Financial institutions and crop insurers — to assess seasonal risk (e.g., disease/pest risk, profit volatility) when pricing loans or insurance</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48986" y="1278384"/>
            <a:ext cx="9338598" cy="5243448"/>
          </a:xfrm>
        </p:spPr>
        <p:txBody>
          <a:bodyPr/>
          <a:lstStyle/>
          <a:p>
            <a:pPr lvl="0" algn="just"/>
            <a:r>
              <a:rPr lang="en-IN" b="1" dirty="0"/>
              <a:t>Language:</a:t>
            </a:r>
            <a:r>
              <a:rPr lang="en-IN" dirty="0"/>
              <a:t> Python</a:t>
            </a:r>
          </a:p>
          <a:p>
            <a:pPr lvl="0" algn="just"/>
            <a:r>
              <a:rPr lang="en-IN" b="1" dirty="0"/>
              <a:t>Environment:</a:t>
            </a:r>
            <a:r>
              <a:rPr lang="en-IN" dirty="0"/>
              <a:t> Jupyter Notebook (Google </a:t>
            </a:r>
            <a:r>
              <a:rPr lang="en-IN" dirty="0" err="1"/>
              <a:t>Colab</a:t>
            </a:r>
            <a:r>
              <a:rPr lang="en-IN" dirty="0"/>
              <a:t>)</a:t>
            </a:r>
          </a:p>
          <a:p>
            <a:pPr lvl="0" algn="just"/>
            <a:r>
              <a:rPr lang="en-IN" b="1" dirty="0"/>
              <a:t>Data Handling:</a:t>
            </a:r>
            <a:r>
              <a:rPr lang="en-IN" dirty="0"/>
              <a:t> Pandas, NumPy</a:t>
            </a:r>
          </a:p>
          <a:p>
            <a:pPr lvl="0" algn="just"/>
            <a:r>
              <a:rPr lang="en-IN" b="1" dirty="0"/>
              <a:t>Data Visualization:</a:t>
            </a:r>
            <a:r>
              <a:rPr lang="en-IN" dirty="0"/>
              <a:t> Matplotlib, Seaborn</a:t>
            </a:r>
          </a:p>
          <a:p>
            <a:pPr lvl="0" algn="just"/>
            <a:r>
              <a:rPr lang="en-IN" b="1" dirty="0"/>
              <a:t>Techniques:</a:t>
            </a:r>
            <a:r>
              <a:rPr lang="en-IN" dirty="0"/>
              <a:t> Data cleaning &amp; imputation, IQR-based outlier detection, descriptive statistics, univariate/bivariate/multivariate analysis, correlation analysis, pivot tables &amp; heatmaps</a:t>
            </a:r>
          </a:p>
          <a:p>
            <a:pPr lvl="1" algn="just">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B25D02A-2FB9-9F3B-1DF3-E103AAFEE189}"/>
              </a:ext>
            </a:extLst>
          </p:cNvPr>
          <p:cNvPicPr>
            <a:picLocks noChangeAspect="1"/>
          </p:cNvPicPr>
          <p:nvPr/>
        </p:nvPicPr>
        <p:blipFill>
          <a:blip r:embed="rId3"/>
          <a:stretch>
            <a:fillRect/>
          </a:stretch>
        </p:blipFill>
        <p:spPr>
          <a:xfrm>
            <a:off x="320981" y="1941448"/>
            <a:ext cx="8099425" cy="3983863"/>
          </a:xfrm>
          <a:prstGeom prst="rect">
            <a:avLst/>
          </a:prstGeom>
        </p:spPr>
      </p:pic>
      <p:sp>
        <p:nvSpPr>
          <p:cNvPr id="3" name="TextBox 2">
            <a:extLst>
              <a:ext uri="{FF2B5EF4-FFF2-40B4-BE49-F238E27FC236}">
                <a16:creationId xmlns:a16="http://schemas.microsoft.com/office/drawing/2014/main" id="{2AC3B595-A0FF-7C6B-B8B9-A67D02E942AF}"/>
              </a:ext>
            </a:extLst>
          </p:cNvPr>
          <p:cNvSpPr txBox="1"/>
          <p:nvPr/>
        </p:nvSpPr>
        <p:spPr>
          <a:xfrm>
            <a:off x="670167" y="1275371"/>
            <a:ext cx="4389343" cy="830997"/>
          </a:xfrm>
          <a:prstGeom prst="rect">
            <a:avLst/>
          </a:prstGeom>
          <a:noFill/>
        </p:spPr>
        <p:txBody>
          <a:bodyPr wrap="none" rtlCol="0">
            <a:spAutoFit/>
          </a:bodyPr>
          <a:lstStyle/>
          <a:p>
            <a:r>
              <a:rPr lang="en-IN" sz="2400" dirty="0"/>
              <a:t>Data Cleaning and Preparation</a:t>
            </a:r>
          </a:p>
          <a:p>
            <a:endParaRPr lang="en-IN" sz="24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0B84545-7F8F-0D13-3BBE-0BFD3761A869}"/>
              </a:ext>
            </a:extLst>
          </p:cNvPr>
          <p:cNvPicPr>
            <a:picLocks noChangeAspect="1"/>
          </p:cNvPicPr>
          <p:nvPr/>
        </p:nvPicPr>
        <p:blipFill>
          <a:blip r:embed="rId3"/>
          <a:stretch>
            <a:fillRect/>
          </a:stretch>
        </p:blipFill>
        <p:spPr>
          <a:xfrm>
            <a:off x="473636" y="1693926"/>
            <a:ext cx="9164139" cy="5164074"/>
          </a:xfrm>
          <a:prstGeom prst="rect">
            <a:avLst/>
          </a:prstGeom>
        </p:spPr>
      </p:pic>
      <p:sp>
        <p:nvSpPr>
          <p:cNvPr id="9" name="TextBox 8">
            <a:extLst>
              <a:ext uri="{FF2B5EF4-FFF2-40B4-BE49-F238E27FC236}">
                <a16:creationId xmlns:a16="http://schemas.microsoft.com/office/drawing/2014/main" id="{7390008C-FA07-4345-407A-1A68E1A05316}"/>
              </a:ext>
            </a:extLst>
          </p:cNvPr>
          <p:cNvSpPr txBox="1"/>
          <p:nvPr/>
        </p:nvSpPr>
        <p:spPr>
          <a:xfrm>
            <a:off x="3447412" y="1275371"/>
            <a:ext cx="3216586" cy="646331"/>
          </a:xfrm>
          <a:prstGeom prst="rect">
            <a:avLst/>
          </a:prstGeom>
          <a:noFill/>
        </p:spPr>
        <p:txBody>
          <a:bodyPr wrap="none" rtlCol="0">
            <a:spAutoFit/>
          </a:bodyPr>
          <a:lstStyle/>
          <a:p>
            <a:r>
              <a:rPr lang="en-IN" dirty="0"/>
              <a:t> Outlier Investigation (Visual)</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472D-A7FC-A569-D602-3B4F40B97E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4B0406-31C8-66DF-2B2A-1C045F2E41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05BCA9A-B4FB-74A6-997A-E3444ECFEAC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5EB9C72-A69C-2891-CF30-F2BE1AA15CE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4A885CA-CD11-7FED-BAB2-3EDC1F8EDD05}"/>
              </a:ext>
            </a:extLst>
          </p:cNvPr>
          <p:cNvSpPr txBox="1">
            <a:spLocks/>
          </p:cNvSpPr>
          <p:nvPr/>
        </p:nvSpPr>
        <p:spPr>
          <a:xfrm>
            <a:off x="3474890" y="1108852"/>
            <a:ext cx="4150215"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Distribution of Key Numeric Variables</a:t>
            </a:r>
          </a:p>
        </p:txBody>
      </p:sp>
      <p:pic>
        <p:nvPicPr>
          <p:cNvPr id="2" name="Picture 1">
            <a:extLst>
              <a:ext uri="{FF2B5EF4-FFF2-40B4-BE49-F238E27FC236}">
                <a16:creationId xmlns:a16="http://schemas.microsoft.com/office/drawing/2014/main" id="{01F4DCE9-7E77-050D-89E4-827FA15A144D}"/>
              </a:ext>
            </a:extLst>
          </p:cNvPr>
          <p:cNvPicPr>
            <a:picLocks noChangeAspect="1"/>
          </p:cNvPicPr>
          <p:nvPr/>
        </p:nvPicPr>
        <p:blipFill>
          <a:blip r:embed="rId3"/>
          <a:stretch>
            <a:fillRect/>
          </a:stretch>
        </p:blipFill>
        <p:spPr>
          <a:xfrm>
            <a:off x="602686" y="1608410"/>
            <a:ext cx="9894625" cy="5164074"/>
          </a:xfrm>
          <a:prstGeom prst="rect">
            <a:avLst/>
          </a:prstGeom>
        </p:spPr>
      </p:pic>
    </p:spTree>
    <p:extLst>
      <p:ext uri="{BB962C8B-B14F-4D97-AF65-F5344CB8AC3E}">
        <p14:creationId xmlns:p14="http://schemas.microsoft.com/office/powerpoint/2010/main" val="24909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80E34-A592-6589-1FB7-5A908C6CF45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3B3B6F-BAF2-FA39-C9A9-F58964ECB6F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0BC6D0-E22E-4062-42A0-E98B297B47A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38AD238-A7BD-3FD9-7016-DFAF684CFCA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A57A59D-3CD6-0581-5BC5-96411590733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441653E-1264-7E72-38D1-DB24582E3ECA}"/>
              </a:ext>
            </a:extLst>
          </p:cNvPr>
          <p:cNvPicPr>
            <a:picLocks noChangeAspect="1"/>
          </p:cNvPicPr>
          <p:nvPr/>
        </p:nvPicPr>
        <p:blipFill>
          <a:blip r:embed="rId3"/>
          <a:stretch>
            <a:fillRect/>
          </a:stretch>
        </p:blipFill>
        <p:spPr>
          <a:xfrm>
            <a:off x="537049" y="1693926"/>
            <a:ext cx="9969407" cy="5164074"/>
          </a:xfrm>
          <a:prstGeom prst="rect">
            <a:avLst/>
          </a:prstGeom>
        </p:spPr>
      </p:pic>
      <p:sp>
        <p:nvSpPr>
          <p:cNvPr id="9" name="TextBox 8">
            <a:extLst>
              <a:ext uri="{FF2B5EF4-FFF2-40B4-BE49-F238E27FC236}">
                <a16:creationId xmlns:a16="http://schemas.microsoft.com/office/drawing/2014/main" id="{AF1CDDF8-1EBC-62B1-3986-7CF820B5A10A}"/>
              </a:ext>
            </a:extLst>
          </p:cNvPr>
          <p:cNvSpPr txBox="1"/>
          <p:nvPr/>
        </p:nvSpPr>
        <p:spPr>
          <a:xfrm>
            <a:off x="3563780" y="1285244"/>
            <a:ext cx="3915944" cy="646331"/>
          </a:xfrm>
          <a:prstGeom prst="rect">
            <a:avLst/>
          </a:prstGeom>
          <a:noFill/>
        </p:spPr>
        <p:txBody>
          <a:bodyPr wrap="none" rtlCol="0">
            <a:spAutoFit/>
          </a:bodyPr>
          <a:lstStyle/>
          <a:p>
            <a:r>
              <a:rPr lang="en-IN" dirty="0"/>
              <a:t>Distribution of Categorical Variables</a:t>
            </a:r>
          </a:p>
          <a:p>
            <a:endParaRPr lang="en-IN" dirty="0"/>
          </a:p>
        </p:txBody>
      </p:sp>
    </p:spTree>
    <p:extLst>
      <p:ext uri="{BB962C8B-B14F-4D97-AF65-F5344CB8AC3E}">
        <p14:creationId xmlns:p14="http://schemas.microsoft.com/office/powerpoint/2010/main" val="43537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2EEE-2F99-0D6E-AB7D-1059B0C7AC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4D716EA-BECE-77F8-0A5B-C68CFDB1C20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049BBE2-5701-2D3E-B545-F7C3B4590D9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0EB8148-AD98-6185-8FF6-AD671FF3C66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65E7A22-F4BF-D63E-F273-DDEFE0CC6151}"/>
              </a:ext>
            </a:extLst>
          </p:cNvPr>
          <p:cNvSpPr txBox="1">
            <a:spLocks/>
          </p:cNvSpPr>
          <p:nvPr/>
        </p:nvSpPr>
        <p:spPr>
          <a:xfrm>
            <a:off x="3248414" y="110703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Season vs. Yield and Profit</a:t>
            </a:r>
          </a:p>
        </p:txBody>
      </p:sp>
      <p:pic>
        <p:nvPicPr>
          <p:cNvPr id="2" name="Picture 1">
            <a:extLst>
              <a:ext uri="{FF2B5EF4-FFF2-40B4-BE49-F238E27FC236}">
                <a16:creationId xmlns:a16="http://schemas.microsoft.com/office/drawing/2014/main" id="{6A4A136F-7E91-E46F-5E9E-F24129AF24E7}"/>
              </a:ext>
            </a:extLst>
          </p:cNvPr>
          <p:cNvPicPr>
            <a:picLocks noChangeAspect="1"/>
          </p:cNvPicPr>
          <p:nvPr/>
        </p:nvPicPr>
        <p:blipFill>
          <a:blip r:embed="rId3"/>
          <a:stretch>
            <a:fillRect/>
          </a:stretch>
        </p:blipFill>
        <p:spPr>
          <a:xfrm>
            <a:off x="98298" y="1577862"/>
            <a:ext cx="10918212" cy="4429746"/>
          </a:xfrm>
          <a:prstGeom prst="rect">
            <a:avLst/>
          </a:prstGeom>
        </p:spPr>
      </p:pic>
    </p:spTree>
    <p:extLst>
      <p:ext uri="{BB962C8B-B14F-4D97-AF65-F5344CB8AC3E}">
        <p14:creationId xmlns:p14="http://schemas.microsoft.com/office/powerpoint/2010/main" val="3999978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47B0-10B8-F221-E068-719C8EB578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EC9AD0-E5AC-9F8E-4E4C-3D954A0EC8D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DFCD23E-40E9-3BA2-DC47-BAEC37F8BE3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18D3BD2-1130-EE9A-D1A6-4B96E3965288}"/>
              </a:ext>
            </a:extLst>
          </p:cNvPr>
          <p:cNvSpPr txBox="1">
            <a:spLocks/>
          </p:cNvSpPr>
          <p:nvPr/>
        </p:nvSpPr>
        <p:spPr>
          <a:xfrm>
            <a:off x="1147301" y="216233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Rainfall vs. Yield</a:t>
            </a:r>
          </a:p>
        </p:txBody>
      </p:sp>
      <p:sp>
        <p:nvSpPr>
          <p:cNvPr id="8" name="Text Placeholder 30">
            <a:extLst>
              <a:ext uri="{FF2B5EF4-FFF2-40B4-BE49-F238E27FC236}">
                <a16:creationId xmlns:a16="http://schemas.microsoft.com/office/drawing/2014/main" id="{1F8C7751-B99B-7E32-659F-B562E303F27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5AB7925-C54C-10F6-2566-7FC11E689DF9}"/>
              </a:ext>
            </a:extLst>
          </p:cNvPr>
          <p:cNvPicPr>
            <a:picLocks noChangeAspect="1"/>
          </p:cNvPicPr>
          <p:nvPr/>
        </p:nvPicPr>
        <p:blipFill>
          <a:blip r:embed="rId3"/>
          <a:stretch>
            <a:fillRect/>
          </a:stretch>
        </p:blipFill>
        <p:spPr>
          <a:xfrm>
            <a:off x="435502" y="2582711"/>
            <a:ext cx="4767160" cy="3149346"/>
          </a:xfrm>
          <a:prstGeom prst="rect">
            <a:avLst/>
          </a:prstGeom>
        </p:spPr>
      </p:pic>
      <p:pic>
        <p:nvPicPr>
          <p:cNvPr id="3" name="Picture 2">
            <a:extLst>
              <a:ext uri="{FF2B5EF4-FFF2-40B4-BE49-F238E27FC236}">
                <a16:creationId xmlns:a16="http://schemas.microsoft.com/office/drawing/2014/main" id="{EA6C4374-5F51-941A-3655-492B9282455C}"/>
              </a:ext>
            </a:extLst>
          </p:cNvPr>
          <p:cNvPicPr>
            <a:picLocks noChangeAspect="1"/>
          </p:cNvPicPr>
          <p:nvPr/>
        </p:nvPicPr>
        <p:blipFill>
          <a:blip r:embed="rId4"/>
          <a:stretch>
            <a:fillRect/>
          </a:stretch>
        </p:blipFill>
        <p:spPr>
          <a:xfrm>
            <a:off x="5492496" y="2582711"/>
            <a:ext cx="5809496" cy="3180765"/>
          </a:xfrm>
          <a:prstGeom prst="rect">
            <a:avLst/>
          </a:prstGeom>
        </p:spPr>
      </p:pic>
      <p:sp>
        <p:nvSpPr>
          <p:cNvPr id="6" name="TextBox 5">
            <a:extLst>
              <a:ext uri="{FF2B5EF4-FFF2-40B4-BE49-F238E27FC236}">
                <a16:creationId xmlns:a16="http://schemas.microsoft.com/office/drawing/2014/main" id="{89BF1AED-9E44-3666-6DDE-6DD959F0EEC1}"/>
              </a:ext>
            </a:extLst>
          </p:cNvPr>
          <p:cNvSpPr txBox="1"/>
          <p:nvPr/>
        </p:nvSpPr>
        <p:spPr>
          <a:xfrm>
            <a:off x="6947648" y="2159009"/>
            <a:ext cx="2899192" cy="646331"/>
          </a:xfrm>
          <a:prstGeom prst="rect">
            <a:avLst/>
          </a:prstGeom>
          <a:noFill/>
        </p:spPr>
        <p:txBody>
          <a:bodyPr wrap="none" rtlCol="0">
            <a:spAutoFit/>
          </a:bodyPr>
          <a:lstStyle/>
          <a:p>
            <a:r>
              <a:rPr lang="en-IN" dirty="0"/>
              <a:t>Irrigation Method vs. Yield</a:t>
            </a:r>
          </a:p>
          <a:p>
            <a:endParaRPr lang="en-IN" dirty="0"/>
          </a:p>
        </p:txBody>
      </p:sp>
    </p:spTree>
    <p:extLst>
      <p:ext uri="{BB962C8B-B14F-4D97-AF65-F5344CB8AC3E}">
        <p14:creationId xmlns:p14="http://schemas.microsoft.com/office/powerpoint/2010/main" val="101371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4C8F-7F1D-893C-4DF8-A72272FFEE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141402A-6844-026C-0F6B-73160F949B4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59B2845-7105-44CD-5562-E5BCFAFB6AE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9FCFE1A-3D26-005E-4599-5129B050659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2B7CA05-7D20-C692-DE9F-B0265431635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E37D922-FB7F-54C6-EF9B-E217C940C9F1}"/>
              </a:ext>
            </a:extLst>
          </p:cNvPr>
          <p:cNvPicPr>
            <a:picLocks noChangeAspect="1"/>
          </p:cNvPicPr>
          <p:nvPr/>
        </p:nvPicPr>
        <p:blipFill>
          <a:blip r:embed="rId3"/>
          <a:stretch>
            <a:fillRect/>
          </a:stretch>
        </p:blipFill>
        <p:spPr>
          <a:xfrm>
            <a:off x="233163" y="2618736"/>
            <a:ext cx="5621454" cy="2963893"/>
          </a:xfrm>
          <a:prstGeom prst="rect">
            <a:avLst/>
          </a:prstGeom>
        </p:spPr>
      </p:pic>
      <p:sp>
        <p:nvSpPr>
          <p:cNvPr id="3" name="TextBox 2">
            <a:extLst>
              <a:ext uri="{FF2B5EF4-FFF2-40B4-BE49-F238E27FC236}">
                <a16:creationId xmlns:a16="http://schemas.microsoft.com/office/drawing/2014/main" id="{A74CA701-6AE6-7DE4-25CA-DEE13CD992EB}"/>
              </a:ext>
            </a:extLst>
          </p:cNvPr>
          <p:cNvSpPr txBox="1"/>
          <p:nvPr/>
        </p:nvSpPr>
        <p:spPr>
          <a:xfrm>
            <a:off x="697764" y="2295570"/>
            <a:ext cx="4242636" cy="646331"/>
          </a:xfrm>
          <a:prstGeom prst="rect">
            <a:avLst/>
          </a:prstGeom>
          <a:noFill/>
        </p:spPr>
        <p:txBody>
          <a:bodyPr wrap="none" rtlCol="0">
            <a:spAutoFit/>
          </a:bodyPr>
          <a:lstStyle/>
          <a:p>
            <a:r>
              <a:rPr lang="en-IN" dirty="0"/>
              <a:t>Season × Crop Average Yield (Heatmap)</a:t>
            </a:r>
          </a:p>
          <a:p>
            <a:endParaRPr lang="en-IN" dirty="0"/>
          </a:p>
        </p:txBody>
      </p:sp>
      <p:pic>
        <p:nvPicPr>
          <p:cNvPr id="6" name="Picture 5">
            <a:extLst>
              <a:ext uri="{FF2B5EF4-FFF2-40B4-BE49-F238E27FC236}">
                <a16:creationId xmlns:a16="http://schemas.microsoft.com/office/drawing/2014/main" id="{4D2E4F62-7144-F013-30FB-E53DB1CD3610}"/>
              </a:ext>
            </a:extLst>
          </p:cNvPr>
          <p:cNvPicPr>
            <a:picLocks noChangeAspect="1"/>
          </p:cNvPicPr>
          <p:nvPr/>
        </p:nvPicPr>
        <p:blipFill>
          <a:blip r:embed="rId4"/>
          <a:stretch>
            <a:fillRect/>
          </a:stretch>
        </p:blipFill>
        <p:spPr>
          <a:xfrm>
            <a:off x="6091249" y="2618736"/>
            <a:ext cx="6100751" cy="2756104"/>
          </a:xfrm>
          <a:prstGeom prst="rect">
            <a:avLst/>
          </a:prstGeom>
        </p:spPr>
      </p:pic>
      <p:sp>
        <p:nvSpPr>
          <p:cNvPr id="9" name="TextBox 8">
            <a:extLst>
              <a:ext uri="{FF2B5EF4-FFF2-40B4-BE49-F238E27FC236}">
                <a16:creationId xmlns:a16="http://schemas.microsoft.com/office/drawing/2014/main" id="{31C50AC1-7CC0-9F85-2296-E0FB693EBC85}"/>
              </a:ext>
            </a:extLst>
          </p:cNvPr>
          <p:cNvSpPr txBox="1"/>
          <p:nvPr/>
        </p:nvSpPr>
        <p:spPr>
          <a:xfrm>
            <a:off x="6575847" y="2295569"/>
            <a:ext cx="5616153" cy="646331"/>
          </a:xfrm>
          <a:prstGeom prst="rect">
            <a:avLst/>
          </a:prstGeom>
          <a:noFill/>
        </p:spPr>
        <p:txBody>
          <a:bodyPr wrap="none" rtlCol="0">
            <a:spAutoFit/>
          </a:bodyPr>
          <a:lstStyle/>
          <a:p>
            <a:r>
              <a:rPr lang="en-IN" dirty="0"/>
              <a:t>Season × Irrigation Method Average Profit (Heatmap)</a:t>
            </a:r>
          </a:p>
          <a:p>
            <a:endParaRPr lang="en-IN" dirty="0"/>
          </a:p>
        </p:txBody>
      </p:sp>
    </p:spTree>
    <p:extLst>
      <p:ext uri="{BB962C8B-B14F-4D97-AF65-F5344CB8AC3E}">
        <p14:creationId xmlns:p14="http://schemas.microsoft.com/office/powerpoint/2010/main" val="268183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4894-1EDE-BC2F-24DF-6BEE33353D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11F900-B2A7-30FC-8265-311CBF5CA19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0D4A66-4091-490D-45C6-D10BC65C4E2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865454F-6F0B-2A04-F0AE-04CD0DB6718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AC33E26-DF7F-F76D-F34B-FDC5C62AECD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014AF58-FADE-00F7-90EB-E5E6BE2213CB}"/>
              </a:ext>
            </a:extLst>
          </p:cNvPr>
          <p:cNvPicPr>
            <a:picLocks noChangeAspect="1"/>
          </p:cNvPicPr>
          <p:nvPr/>
        </p:nvPicPr>
        <p:blipFill>
          <a:blip r:embed="rId3"/>
          <a:stretch>
            <a:fillRect/>
          </a:stretch>
        </p:blipFill>
        <p:spPr>
          <a:xfrm>
            <a:off x="458754" y="1404366"/>
            <a:ext cx="8639526" cy="5453634"/>
          </a:xfrm>
          <a:prstGeom prst="rect">
            <a:avLst/>
          </a:prstGeom>
        </p:spPr>
      </p:pic>
      <p:sp>
        <p:nvSpPr>
          <p:cNvPr id="3" name="TextBox 2">
            <a:extLst>
              <a:ext uri="{FF2B5EF4-FFF2-40B4-BE49-F238E27FC236}">
                <a16:creationId xmlns:a16="http://schemas.microsoft.com/office/drawing/2014/main" id="{5473A796-C099-42C7-FF05-A3BFEB995EE6}"/>
              </a:ext>
            </a:extLst>
          </p:cNvPr>
          <p:cNvSpPr txBox="1"/>
          <p:nvPr/>
        </p:nvSpPr>
        <p:spPr>
          <a:xfrm>
            <a:off x="2166778" y="1082331"/>
            <a:ext cx="5233420" cy="646331"/>
          </a:xfrm>
          <a:prstGeom prst="rect">
            <a:avLst/>
          </a:prstGeom>
          <a:noFill/>
        </p:spPr>
        <p:txBody>
          <a:bodyPr wrap="none" rtlCol="0">
            <a:spAutoFit/>
          </a:bodyPr>
          <a:lstStyle/>
          <a:p>
            <a:r>
              <a:rPr lang="en-IN" dirty="0"/>
              <a:t>Pairwise Relationships (Key Variables, by Season)</a:t>
            </a:r>
          </a:p>
          <a:p>
            <a:endParaRPr lang="en-IN" dirty="0"/>
          </a:p>
        </p:txBody>
      </p:sp>
    </p:spTree>
    <p:extLst>
      <p:ext uri="{BB962C8B-B14F-4D97-AF65-F5344CB8AC3E}">
        <p14:creationId xmlns:p14="http://schemas.microsoft.com/office/powerpoint/2010/main" val="178448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CEFA1-7EF7-658B-CD49-EEE7A637704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17F36F-C628-83BC-2913-5508357D256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9297769-F5C7-3A0E-D153-2955CD47117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26BFD33-F838-112D-B782-A6F63BAE44F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319041-3516-B54C-E429-B26A4CA9308A}"/>
              </a:ext>
            </a:extLst>
          </p:cNvPr>
          <p:cNvSpPr txBox="1">
            <a:spLocks/>
          </p:cNvSpPr>
          <p:nvPr/>
        </p:nvSpPr>
        <p:spPr>
          <a:xfrm>
            <a:off x="3449582" y="128887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Correlation Analysis</a:t>
            </a:r>
          </a:p>
        </p:txBody>
      </p:sp>
      <p:pic>
        <p:nvPicPr>
          <p:cNvPr id="2" name="Picture 1">
            <a:extLst>
              <a:ext uri="{FF2B5EF4-FFF2-40B4-BE49-F238E27FC236}">
                <a16:creationId xmlns:a16="http://schemas.microsoft.com/office/drawing/2014/main" id="{277AD327-65CF-23E7-9D51-B85FC94FD528}"/>
              </a:ext>
            </a:extLst>
          </p:cNvPr>
          <p:cNvPicPr>
            <a:picLocks noChangeAspect="1"/>
          </p:cNvPicPr>
          <p:nvPr/>
        </p:nvPicPr>
        <p:blipFill>
          <a:blip r:embed="rId3"/>
          <a:stretch>
            <a:fillRect/>
          </a:stretch>
        </p:blipFill>
        <p:spPr>
          <a:xfrm>
            <a:off x="221792" y="1693926"/>
            <a:ext cx="9964624" cy="5164074"/>
          </a:xfrm>
          <a:prstGeom prst="rect">
            <a:avLst/>
          </a:prstGeom>
        </p:spPr>
      </p:pic>
    </p:spTree>
    <p:extLst>
      <p:ext uri="{BB962C8B-B14F-4D97-AF65-F5344CB8AC3E}">
        <p14:creationId xmlns:p14="http://schemas.microsoft.com/office/powerpoint/2010/main" val="216075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4FD7-8E2D-553B-F2CF-E24B3FF318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C68275-EF3E-84C9-BBA0-7355F8AE6F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1FB09B0-C4AC-F30C-453D-BAE47C3F1D0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F3F2308-96DC-4B1B-9A56-F2948BC58B5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7AA4862-DAB0-C4EF-BE0D-C4301FAC145D}"/>
              </a:ext>
            </a:extLst>
          </p:cNvPr>
          <p:cNvSpPr txBox="1">
            <a:spLocks/>
          </p:cNvSpPr>
          <p:nvPr/>
        </p:nvSpPr>
        <p:spPr>
          <a:xfrm>
            <a:off x="3769370" y="105509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 Seasonal Comparison Summary</a:t>
            </a:r>
          </a:p>
        </p:txBody>
      </p:sp>
      <p:pic>
        <p:nvPicPr>
          <p:cNvPr id="2" name="Picture 1">
            <a:extLst>
              <a:ext uri="{FF2B5EF4-FFF2-40B4-BE49-F238E27FC236}">
                <a16:creationId xmlns:a16="http://schemas.microsoft.com/office/drawing/2014/main" id="{81D6B1DF-CD55-CC3B-E140-365A79053944}"/>
              </a:ext>
            </a:extLst>
          </p:cNvPr>
          <p:cNvPicPr>
            <a:picLocks noChangeAspect="1"/>
          </p:cNvPicPr>
          <p:nvPr/>
        </p:nvPicPr>
        <p:blipFill>
          <a:blip r:embed="rId3"/>
          <a:stretch>
            <a:fillRect/>
          </a:stretch>
        </p:blipFill>
        <p:spPr>
          <a:xfrm>
            <a:off x="320982" y="1500886"/>
            <a:ext cx="10240338" cy="5357114"/>
          </a:xfrm>
          <a:prstGeom prst="rect">
            <a:avLst/>
          </a:prstGeom>
        </p:spPr>
      </p:pic>
    </p:spTree>
    <p:extLst>
      <p:ext uri="{BB962C8B-B14F-4D97-AF65-F5344CB8AC3E}">
        <p14:creationId xmlns:p14="http://schemas.microsoft.com/office/powerpoint/2010/main" val="305500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E4C2-997A-028A-2A5B-EF6E4CB4BA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10F2E3-B913-58B5-C156-73A0A5C55BF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83FC4E6-B23D-C77C-3083-27392259380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0E4973E-F078-56A1-A6D0-E7F9E0538B7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CF6EBB1-6F51-5EE3-5A8A-3BF97C751E0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8D1964D-2C3D-8FC2-0E02-9A00EB0ADF90}"/>
              </a:ext>
            </a:extLst>
          </p:cNvPr>
          <p:cNvPicPr>
            <a:picLocks noChangeAspect="1"/>
          </p:cNvPicPr>
          <p:nvPr/>
        </p:nvPicPr>
        <p:blipFill>
          <a:blip r:embed="rId3"/>
          <a:stretch>
            <a:fillRect/>
          </a:stretch>
        </p:blipFill>
        <p:spPr>
          <a:xfrm>
            <a:off x="0" y="2015234"/>
            <a:ext cx="11203686" cy="4778758"/>
          </a:xfrm>
          <a:prstGeom prst="rect">
            <a:avLst/>
          </a:prstGeom>
        </p:spPr>
      </p:pic>
      <p:sp>
        <p:nvSpPr>
          <p:cNvPr id="3" name="TextBox 2">
            <a:extLst>
              <a:ext uri="{FF2B5EF4-FFF2-40B4-BE49-F238E27FC236}">
                <a16:creationId xmlns:a16="http://schemas.microsoft.com/office/drawing/2014/main" id="{94FB8B7C-5050-164B-2E67-500061D7B86C}"/>
              </a:ext>
            </a:extLst>
          </p:cNvPr>
          <p:cNvSpPr txBox="1"/>
          <p:nvPr/>
        </p:nvSpPr>
        <p:spPr>
          <a:xfrm>
            <a:off x="320982" y="1295118"/>
            <a:ext cx="10255436" cy="646331"/>
          </a:xfrm>
          <a:prstGeom prst="rect">
            <a:avLst/>
          </a:prstGeom>
          <a:noFill/>
        </p:spPr>
        <p:txBody>
          <a:bodyPr wrap="none" rtlCol="0">
            <a:spAutoFit/>
          </a:bodyPr>
          <a:lstStyle/>
          <a:p>
            <a:r>
              <a:rPr lang="en-IN" dirty="0"/>
              <a:t>Q1. How does irrigation method affect profitability, and does the </a:t>
            </a:r>
            <a:r>
              <a:rPr lang="en-IN" i="1" dirty="0"/>
              <a:t>best</a:t>
            </a:r>
            <a:r>
              <a:rPr lang="en-IN" dirty="0"/>
              <a:t> method change by season?</a:t>
            </a:r>
          </a:p>
          <a:p>
            <a:endParaRPr lang="en-IN" dirty="0"/>
          </a:p>
        </p:txBody>
      </p:sp>
    </p:spTree>
    <p:extLst>
      <p:ext uri="{BB962C8B-B14F-4D97-AF65-F5344CB8AC3E}">
        <p14:creationId xmlns:p14="http://schemas.microsoft.com/office/powerpoint/2010/main" val="396191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DDC2A-E970-54BE-8C08-6A298BD3CD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6073B4-DA91-9C99-2D84-AF83D7F0A56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095630F-25CD-4862-FCBB-0202CFA3995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6DEB825-F0F5-EE7E-6632-9CC86DB56E9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5484968-DF3C-16AB-7623-0F4EB8440F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4363813-A87C-4FA4-BC23-03182C4E9BEE}"/>
              </a:ext>
            </a:extLst>
          </p:cNvPr>
          <p:cNvSpPr txBox="1"/>
          <p:nvPr/>
        </p:nvSpPr>
        <p:spPr>
          <a:xfrm>
            <a:off x="242316" y="1275371"/>
            <a:ext cx="10154412" cy="369332"/>
          </a:xfrm>
          <a:prstGeom prst="rect">
            <a:avLst/>
          </a:prstGeom>
          <a:noFill/>
        </p:spPr>
        <p:txBody>
          <a:bodyPr wrap="square">
            <a:spAutoFit/>
          </a:bodyPr>
          <a:lstStyle/>
          <a:p>
            <a:pPr indent="0" algn="l">
              <a:buNone/>
            </a:pPr>
            <a:r>
              <a:rPr lang="en-IN" sz="1800" b="0" i="0" dirty="0">
                <a:solidFill>
                  <a:schemeClr val="tx1"/>
                </a:solidFill>
                <a:effectLst/>
                <a:latin typeface="+mn-lt"/>
              </a:rPr>
              <a:t>Q2. Is there a relationship between disease/pest risk and yield, and does it differ by season?</a:t>
            </a:r>
            <a:endParaRPr lang="en-IN" sz="1500" b="0" i="0" dirty="0">
              <a:solidFill>
                <a:srgbClr val="E3E3E3"/>
              </a:solidFill>
              <a:effectLst/>
              <a:latin typeface="Google Sans Text"/>
            </a:endParaRPr>
          </a:p>
        </p:txBody>
      </p:sp>
      <p:pic>
        <p:nvPicPr>
          <p:cNvPr id="6" name="Picture 5">
            <a:extLst>
              <a:ext uri="{FF2B5EF4-FFF2-40B4-BE49-F238E27FC236}">
                <a16:creationId xmlns:a16="http://schemas.microsoft.com/office/drawing/2014/main" id="{0E9E9A8A-ADA7-5742-878F-91ABD8755DB8}"/>
              </a:ext>
            </a:extLst>
          </p:cNvPr>
          <p:cNvPicPr>
            <a:picLocks noChangeAspect="1"/>
          </p:cNvPicPr>
          <p:nvPr/>
        </p:nvPicPr>
        <p:blipFill>
          <a:blip r:embed="rId3"/>
          <a:stretch>
            <a:fillRect/>
          </a:stretch>
        </p:blipFill>
        <p:spPr>
          <a:xfrm>
            <a:off x="17296" y="2448028"/>
            <a:ext cx="11498747" cy="4216932"/>
          </a:xfrm>
          <a:prstGeom prst="rect">
            <a:avLst/>
          </a:prstGeom>
        </p:spPr>
      </p:pic>
    </p:spTree>
    <p:extLst>
      <p:ext uri="{BB962C8B-B14F-4D97-AF65-F5344CB8AC3E}">
        <p14:creationId xmlns:p14="http://schemas.microsoft.com/office/powerpoint/2010/main" val="228040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BCB4-8F63-1DD9-24D3-599A528653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A9333A-C5EB-AB42-0C74-B5A17624271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7495FFF-FA58-F5B6-F0C3-145F75E9AF8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40E9D7A-3A61-C446-616D-712C8A26FC32}"/>
              </a:ext>
            </a:extLst>
          </p:cNvPr>
          <p:cNvSpPr txBox="1">
            <a:spLocks/>
          </p:cNvSpPr>
          <p:nvPr/>
        </p:nvSpPr>
        <p:spPr>
          <a:xfrm>
            <a:off x="-109257" y="1251661"/>
            <a:ext cx="11383338"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Q3. Which state achieves the best water efficiency in each season, and is the leader consistent across seasons?</a:t>
            </a:r>
          </a:p>
        </p:txBody>
      </p:sp>
      <p:sp>
        <p:nvSpPr>
          <p:cNvPr id="8" name="Text Placeholder 30">
            <a:extLst>
              <a:ext uri="{FF2B5EF4-FFF2-40B4-BE49-F238E27FC236}">
                <a16:creationId xmlns:a16="http://schemas.microsoft.com/office/drawing/2014/main" id="{2FBC00B0-276A-272D-DB30-6F04142187A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AC4121B-A04A-FB2D-A492-D8598D45DA44}"/>
              </a:ext>
            </a:extLst>
          </p:cNvPr>
          <p:cNvPicPr>
            <a:picLocks noChangeAspect="1"/>
          </p:cNvPicPr>
          <p:nvPr/>
        </p:nvPicPr>
        <p:blipFill>
          <a:blip r:embed="rId3"/>
          <a:stretch>
            <a:fillRect/>
          </a:stretch>
        </p:blipFill>
        <p:spPr>
          <a:xfrm>
            <a:off x="0" y="1748790"/>
            <a:ext cx="11164824" cy="5164074"/>
          </a:xfrm>
          <a:prstGeom prst="rect">
            <a:avLst/>
          </a:prstGeom>
        </p:spPr>
      </p:pic>
    </p:spTree>
    <p:extLst>
      <p:ext uri="{BB962C8B-B14F-4D97-AF65-F5344CB8AC3E}">
        <p14:creationId xmlns:p14="http://schemas.microsoft.com/office/powerpoint/2010/main" val="376972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5863-5B9B-D6F8-E081-7BCD4C0B64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196064-723C-3431-6B2D-5FF0A23F607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29C0CF5-0DC2-0142-C0B5-CE6C2F2976A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E4504BE-B7AB-3655-FF0E-34E27C47A94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4341317-251F-0763-D2A7-BBD4655A5C7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6D2BB2A-604F-1E89-7F3C-255F60E757B7}"/>
              </a:ext>
            </a:extLst>
          </p:cNvPr>
          <p:cNvPicPr>
            <a:picLocks noChangeAspect="1"/>
          </p:cNvPicPr>
          <p:nvPr/>
        </p:nvPicPr>
        <p:blipFill>
          <a:blip r:embed="rId3"/>
          <a:stretch>
            <a:fillRect/>
          </a:stretch>
        </p:blipFill>
        <p:spPr>
          <a:xfrm>
            <a:off x="5972" y="2326273"/>
            <a:ext cx="12186027" cy="4531727"/>
          </a:xfrm>
          <a:prstGeom prst="rect">
            <a:avLst/>
          </a:prstGeom>
        </p:spPr>
      </p:pic>
      <p:sp>
        <p:nvSpPr>
          <p:cNvPr id="3" name="TextBox 2">
            <a:extLst>
              <a:ext uri="{FF2B5EF4-FFF2-40B4-BE49-F238E27FC236}">
                <a16:creationId xmlns:a16="http://schemas.microsoft.com/office/drawing/2014/main" id="{0B345509-6877-3B19-4EAD-DDF76B4652DD}"/>
              </a:ext>
            </a:extLst>
          </p:cNvPr>
          <p:cNvSpPr txBox="1"/>
          <p:nvPr/>
        </p:nvSpPr>
        <p:spPr>
          <a:xfrm>
            <a:off x="320982" y="1368903"/>
            <a:ext cx="8090676" cy="646331"/>
          </a:xfrm>
          <a:prstGeom prst="rect">
            <a:avLst/>
          </a:prstGeom>
          <a:noFill/>
        </p:spPr>
        <p:txBody>
          <a:bodyPr wrap="none" rtlCol="0">
            <a:spAutoFit/>
          </a:bodyPr>
          <a:lstStyle/>
          <a:p>
            <a:r>
              <a:rPr lang="en-IN" dirty="0"/>
              <a:t>Q4. Do higher fertilizer/pesticide inputs actually translate into higher yield?</a:t>
            </a:r>
          </a:p>
          <a:p>
            <a:endParaRPr lang="en-IN" dirty="0"/>
          </a:p>
        </p:txBody>
      </p:sp>
    </p:spTree>
    <p:extLst>
      <p:ext uri="{BB962C8B-B14F-4D97-AF65-F5344CB8AC3E}">
        <p14:creationId xmlns:p14="http://schemas.microsoft.com/office/powerpoint/2010/main" val="420907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44374"/>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9518A29D-2554-4BAE-70F3-18B2B1CB5051}"/>
              </a:ext>
            </a:extLst>
          </p:cNvPr>
          <p:cNvSpPr txBox="1"/>
          <p:nvPr/>
        </p:nvSpPr>
        <p:spPr>
          <a:xfrm>
            <a:off x="996696" y="1645920"/>
            <a:ext cx="184731" cy="369332"/>
          </a:xfrm>
          <a:prstGeom prst="rect">
            <a:avLst/>
          </a:prstGeom>
          <a:noFill/>
        </p:spPr>
        <p:txBody>
          <a:bodyPr wrap="none" rtlCol="0">
            <a:spAutoFit/>
          </a:bodyPr>
          <a:lstStyle/>
          <a:p>
            <a:endParaRPr lang="en-IN" dirty="0"/>
          </a:p>
        </p:txBody>
      </p:sp>
      <p:sp>
        <p:nvSpPr>
          <p:cNvPr id="11" name="Text Placeholder 6">
            <a:extLst>
              <a:ext uri="{FF2B5EF4-FFF2-40B4-BE49-F238E27FC236}">
                <a16:creationId xmlns:a16="http://schemas.microsoft.com/office/drawing/2014/main" id="{B81FBF12-E00F-8355-4B8B-5F36A2D27FFD}"/>
              </a:ext>
            </a:extLst>
          </p:cNvPr>
          <p:cNvSpPr>
            <a:spLocks noGrp="1"/>
          </p:cNvSpPr>
          <p:nvPr>
            <p:ph type="body" sz="quarter" idx="12"/>
          </p:nvPr>
        </p:nvSpPr>
        <p:spPr>
          <a:xfrm>
            <a:off x="320982" y="1324992"/>
            <a:ext cx="9338598" cy="5243448"/>
          </a:xfrm>
        </p:spPr>
        <p:txBody>
          <a:bodyPr/>
          <a:lstStyle/>
          <a:p>
            <a:pPr lvl="0"/>
            <a:r>
              <a:rPr lang="en-IN" dirty="0"/>
              <a:t>Build a predictive model (regression/ML) to forecast yield or profit using seasonal and environmental features</a:t>
            </a:r>
          </a:p>
          <a:p>
            <a:pPr lvl="0"/>
            <a:r>
              <a:rPr lang="en-IN" dirty="0"/>
              <a:t>Extend the analysis with real-time weather and satellite data for more dynamic seasonal forecasting</a:t>
            </a:r>
          </a:p>
          <a:p>
            <a:pPr lvl="0"/>
            <a:r>
              <a:rPr lang="en-IN" dirty="0"/>
              <a:t>Develop an interactive dashboard (e.g., Power BI/</a:t>
            </a:r>
            <a:r>
              <a:rPr lang="en-IN" dirty="0" err="1"/>
              <a:t>Streamlit</a:t>
            </a:r>
            <a:r>
              <a:rPr lang="en-IN" dirty="0"/>
              <a:t>) for farmers and policymakers to explore seasonal trends</a:t>
            </a:r>
          </a:p>
          <a:p>
            <a:pPr lvl="0"/>
            <a:r>
              <a:rPr lang="en-IN" dirty="0"/>
              <a:t>Incorporate additional years of data to study year-over-year seasonal trends, not just a single-cycle snapshot</a:t>
            </a:r>
          </a:p>
          <a:p>
            <a:pPr lvl="0"/>
            <a:r>
              <a:rPr lang="en-IN" dirty="0"/>
              <a:t>Add region-specific recommendation systems suggesting optimal crop and irrigation choices per season and state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Effect transition="in" filter="fade">
                                      <p:cBhvr>
                                        <p:cTn id="28" dur="1000"/>
                                        <p:tgtEl>
                                          <p:spTgt spid="11">
                                            <p:txEl>
                                              <p:pRg st="0" end="0"/>
                                            </p:txEl>
                                          </p:spTgt>
                                        </p:tgtEl>
                                      </p:cBhvr>
                                    </p:animEffect>
                                    <p:anim calcmode="lin" valueType="num">
                                      <p:cBhvr>
                                        <p:cTn id="29"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xEl>
                                              <p:pRg st="1" end="1"/>
                                            </p:txEl>
                                          </p:spTgt>
                                        </p:tgtEl>
                                        <p:attrNameLst>
                                          <p:attrName>style.visibility</p:attrName>
                                        </p:attrNameLst>
                                      </p:cBhvr>
                                      <p:to>
                                        <p:strVal val="visible"/>
                                      </p:to>
                                    </p:set>
                                    <p:animEffect transition="in" filter="fade">
                                      <p:cBhvr>
                                        <p:cTn id="35" dur="1000"/>
                                        <p:tgtEl>
                                          <p:spTgt spid="11">
                                            <p:txEl>
                                              <p:pRg st="1" end="1"/>
                                            </p:txEl>
                                          </p:spTgt>
                                        </p:tgtEl>
                                      </p:cBhvr>
                                    </p:animEffect>
                                    <p:anim calcmode="lin" valueType="num">
                                      <p:cBhvr>
                                        <p:cTn id="36"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xEl>
                                              <p:pRg st="2" end="2"/>
                                            </p:txEl>
                                          </p:spTgt>
                                        </p:tgtEl>
                                        <p:attrNameLst>
                                          <p:attrName>style.visibility</p:attrName>
                                        </p:attrNameLst>
                                      </p:cBhvr>
                                      <p:to>
                                        <p:strVal val="visible"/>
                                      </p:to>
                                    </p:set>
                                    <p:animEffect transition="in" filter="fade">
                                      <p:cBhvr>
                                        <p:cTn id="42" dur="1000"/>
                                        <p:tgtEl>
                                          <p:spTgt spid="11">
                                            <p:txEl>
                                              <p:pRg st="2" end="2"/>
                                            </p:txEl>
                                          </p:spTgt>
                                        </p:tgtEl>
                                      </p:cBhvr>
                                    </p:animEffect>
                                    <p:anim calcmode="lin" valueType="num">
                                      <p:cBhvr>
                                        <p:cTn id="4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3" end="3"/>
                                            </p:txEl>
                                          </p:spTgt>
                                        </p:tgtEl>
                                        <p:attrNameLst>
                                          <p:attrName>style.visibility</p:attrName>
                                        </p:attrNameLst>
                                      </p:cBhvr>
                                      <p:to>
                                        <p:strVal val="visible"/>
                                      </p:to>
                                    </p:set>
                                    <p:animEffect transition="in" filter="fade">
                                      <p:cBhvr>
                                        <p:cTn id="49" dur="1000"/>
                                        <p:tgtEl>
                                          <p:spTgt spid="11">
                                            <p:txEl>
                                              <p:pRg st="3" end="3"/>
                                            </p:txEl>
                                          </p:spTgt>
                                        </p:tgtEl>
                                      </p:cBhvr>
                                    </p:animEffect>
                                    <p:anim calcmode="lin" valueType="num">
                                      <p:cBhvr>
                                        <p:cTn id="5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xEl>
                                              <p:pRg st="4" end="4"/>
                                            </p:txEl>
                                          </p:spTgt>
                                        </p:tgtEl>
                                        <p:attrNameLst>
                                          <p:attrName>style.visibility</p:attrName>
                                        </p:attrNameLst>
                                      </p:cBhvr>
                                      <p:to>
                                        <p:strVal val="visible"/>
                                      </p:to>
                                    </p:set>
                                    <p:animEffect transition="in" filter="fade">
                                      <p:cBhvr>
                                        <p:cTn id="56" dur="1000"/>
                                        <p:tgtEl>
                                          <p:spTgt spid="11">
                                            <p:txEl>
                                              <p:pRg st="4" end="4"/>
                                            </p:txEl>
                                          </p:spTgt>
                                        </p:tgtEl>
                                      </p:cBhvr>
                                    </p:animEffect>
                                    <p:anim calcmode="lin" valueType="num">
                                      <p:cBhvr>
                                        <p:cTn id="57"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320982" y="1275371"/>
            <a:ext cx="7180303" cy="830997"/>
          </a:xfrm>
          <a:prstGeom prst="rect">
            <a:avLst/>
          </a:prstGeom>
          <a:noFill/>
        </p:spPr>
        <p:txBody>
          <a:bodyPr wrap="square">
            <a:spAutoFit/>
          </a:bodyPr>
          <a:lstStyle/>
          <a:p>
            <a:r>
              <a:rPr lang="en-US" sz="2400" dirty="0"/>
              <a:t>https://github.com/Mr007ok/Seasonal_Agriculture_Performance_Data_Analytics-VOIS-Project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BD1937F-645D-B620-6408-D7CC8C77E7B0}"/>
              </a:ext>
            </a:extLst>
          </p:cNvPr>
          <p:cNvPicPr>
            <a:picLocks noChangeAspect="1"/>
          </p:cNvPicPr>
          <p:nvPr/>
        </p:nvPicPr>
        <p:blipFill>
          <a:blip r:embed="rId3"/>
          <a:stretch>
            <a:fillRect/>
          </a:stretch>
        </p:blipFill>
        <p:spPr>
          <a:xfrm>
            <a:off x="774611" y="1424959"/>
            <a:ext cx="9055190" cy="514348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3262457"/>
            <a:ext cx="11340000" cy="700114"/>
          </a:xfrm>
          <a:prstGeom prst="rect">
            <a:avLst/>
          </a:prstGeom>
        </p:spPr>
        <p:txBody>
          <a:bodyPr anchor="ctr">
            <a:noAutofit/>
          </a:bodyPr>
          <a:lstStyle/>
          <a:p>
            <a:pPr algn="ctr"/>
            <a:r>
              <a:rPr lang="en-US" sz="115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1391</TotalTime>
  <Words>662</Words>
  <Application>Microsoft Office PowerPoint</Application>
  <PresentationFormat>Widescreen</PresentationFormat>
  <Paragraphs>67</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Google Sans Text</vt:lpstr>
      <vt:lpstr>Trebuchet MS</vt:lpstr>
      <vt:lpstr>Wingdings</vt:lpstr>
      <vt:lpstr>Wingdings 3</vt:lpstr>
      <vt:lpstr>Facet</vt:lpstr>
      <vt:lpstr>Seasonal_Agriculture_Performance_Data_Analytics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om koli</cp:lastModifiedBy>
  <cp:revision>108</cp:revision>
  <dcterms:created xsi:type="dcterms:W3CDTF">2021-07-11T13:13:15Z</dcterms:created>
  <dcterms:modified xsi:type="dcterms:W3CDTF">2026-09-09T16:35:09Z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